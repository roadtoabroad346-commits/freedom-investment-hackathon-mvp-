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adobe.com/cc-shared/assets/investor-relations/pdfs/adbe-2025-annual-report.pdf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adobe.com/cc-shared/assets/investor-relations/pdfs/adbe-2025-annual-report.pdf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sec.gov/Archives/edgar/data/1633917/000163391726000024/pypl-20251231.ht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sec.gov/Archives/edgar/data/1633917/000163391726000024/pypl-20251231.ht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investors.nike.com/sec-filings/all-sec-filings/content/0000320187-26-000088/nke-20260531.ht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investors.nike.com/sec-filings/all-sec-filings/content/0000320187-26-000088/nke-20260531.ht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144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56677A"/>
                </a:solidFill>
              </a:rPr>
              <a:t>MIRROR X / 01 / РЕКОМЕНДАЦИИ — ОЖИДАЮТ ПРОВЕРКИ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253D"/>
                </a:solidFill>
              </a:rPr>
              <a:t>Сводка трёх основных исследований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6364224"/>
            <a:ext cx="11247120" cy="0"/>
          </a:xfrm>
          <a:prstGeom prst="line">
            <a:avLst/>
          </a:prstGeom>
          <a:noFill/>
          <a:ln w="12700">
            <a:solidFill>
              <a:srgbClr val="D8E0E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6464808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5500C"/>
                </a:solidFill>
              </a:rPr>
              <a:t>PRELIMINARY · НЕ ГОТОВО К СДАЧЕ · Buy не подтверждён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229600" y="6464808"/>
            <a:ext cx="34747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6677A"/>
                </a:solidFill>
              </a:rPr>
              <a:t>MX-3777d2e495a9 / 1</a:t>
            </a:r>
            <a:endParaRPr lang="en-US" sz="8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2011680"/>
        </p:xfrm>
        <a:graphic>
          <a:graphicData uri="http://schemas.openxmlformats.org/drawingml/2006/table">
            <a:tbl>
              <a:tblPr/>
              <a:tblGrid>
                <a:gridCol w="1965960"/>
                <a:gridCol w="731520"/>
                <a:gridCol w="2103120"/>
                <a:gridCol w="1280160"/>
                <a:gridCol w="1463040"/>
                <a:gridCol w="960120"/>
                <a:gridCol w="9144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5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Компания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5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Тикер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5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Рекомендация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5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Close 02.11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5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12m target*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5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Upside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5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Вес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5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Adobe Inc.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5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ADBE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5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NOT-RATED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5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Buy не подтверждён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5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5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$266.27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5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5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5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PayPal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5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PYPL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5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NOT-RATED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5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Buy не подтверждён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5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5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$67.70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5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5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5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Nike, Inc.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5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NKE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5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NOT-RATED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5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Buy не подтверждён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5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5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$30.22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5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5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02920" y="4206240"/>
            <a:ext cx="10972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7253D"/>
                </a:solidFill>
              </a:rPr>
              <a:t>$100 000 учебного капитала · 12 месяцев</a:t>
            </a:r>
            <a:endParaRPr lang="en-US" sz="18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7253D"/>
                </a:solidFill>
              </a:rPr>
              <a:t>* Target — условный результат модели на базе годового отчёта.</a:t>
            </a:r>
            <a:endParaRPr lang="en-US" sz="18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7253D"/>
                </a:solidFill>
              </a:rPr>
              <a:t>Цены закрытия 2 ноября ещё недоступны. Это рабочий пакет, а не готовые Buy-рекомендации.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144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56677A"/>
                </a:solidFill>
              </a:rPr>
              <a:t>MIRROR X / 02 / ПОДХОД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253D"/>
                </a:solidFill>
              </a:rPr>
              <a:t>От широкого поиска к проверяемому аргументу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6364224"/>
            <a:ext cx="11247120" cy="0"/>
          </a:xfrm>
          <a:prstGeom prst="line">
            <a:avLst/>
          </a:prstGeom>
          <a:noFill/>
          <a:ln w="12700">
            <a:solidFill>
              <a:srgbClr val="D8E0E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6464808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5500C"/>
                </a:solidFill>
              </a:rPr>
              <a:t>PRELIMINARY · НЕ ГОТОВО К СДАЧЕ · Buy не подтверждён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229600" y="6464808"/>
            <a:ext cx="34747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6677A"/>
                </a:solidFill>
              </a:rPr>
              <a:t>MX-3777d2e495a9 / 2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02920" y="1463040"/>
            <a:ext cx="109728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2200" dirty="0">
                <a:solidFill>
                  <a:srgbClr val="17253D"/>
                </a:solidFill>
              </a:rPr>
              <a:t>503 компании в импортированном наборе → реальные фильтры → отраслевой рейтинг → проверка фактов → DCF → контраргументы.</a:t>
            </a:r>
            <a:endParaRPr lang="en-US" sz="2200" dirty="0"/>
          </a:p>
          <a:p>
            <a:pPr indent="0" marL="0">
              <a:spcAft>
                <a:spcPts val="1600"/>
              </a:spcAft>
              <a:buNone/>
            </a:pPr>
            <a:endParaRPr lang="en-US" sz="22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200" dirty="0">
                <a:solidFill>
                  <a:srgbClr val="17253D"/>
                </a:solidFill>
              </a:rPr>
              <a:t>Рейтинг: 60% P/E-процентиль + 40% EBITDA / капитализация. Минимум 5 отраслевых аналогов. Пропуски не получают средний балл.</a:t>
            </a:r>
            <a:endParaRPr lang="en-US" sz="2200" dirty="0"/>
          </a:p>
          <a:p>
            <a:pPr indent="0" marL="0">
              <a:spcAft>
                <a:spcPts val="1600"/>
              </a:spcAft>
              <a:buNone/>
            </a:pPr>
            <a:endParaRPr lang="en-US" sz="22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200" dirty="0">
                <a:solidFill>
                  <a:srgbClr val="17253D"/>
                </a:solidFill>
              </a:rPr>
              <a:t>Adobe, PayPal и Nike — выбранный фокус исследований. Алгоритм пока не доказал, что это лучшие три Buy.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144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56677A"/>
                </a:solidFill>
              </a:rPr>
              <a:t>MIRROR X / 03 / ВОРОНКА И КАЧЕСТВО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253D"/>
                </a:solidFill>
              </a:rPr>
              <a:t>Готовность измеряется фактами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6364224"/>
            <a:ext cx="11247120" cy="0"/>
          </a:xfrm>
          <a:prstGeom prst="line">
            <a:avLst/>
          </a:prstGeom>
          <a:noFill/>
          <a:ln w="12700">
            <a:solidFill>
              <a:srgbClr val="D8E0E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6464808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5500C"/>
                </a:solidFill>
              </a:rPr>
              <a:t>PRELIMINARY · НЕ ГОТОВО К СДАЧЕ · Buy не подтверждён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229600" y="6464808"/>
            <a:ext cx="34747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6677A"/>
                </a:solidFill>
              </a:rPr>
              <a:t>MX-3777d2e495a9 / 3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02920" y="1463040"/>
            <a:ext cx="109728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2300" dirty="0">
                <a:solidFill>
                  <a:srgbClr val="17253D"/>
                </a:solidFill>
              </a:rPr>
              <a:t>503 импортированные компании · 3 годовые модели · 0 датированных котировок.</a:t>
            </a:r>
            <a:endParaRPr lang="en-US" sz="2300" dirty="0"/>
          </a:p>
          <a:p>
            <a:pPr indent="0" marL="0">
              <a:spcAft>
                <a:spcPts val="1600"/>
              </a:spcAft>
              <a:buNone/>
            </a:pPr>
            <a:endParaRPr lang="en-US" sz="23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300" dirty="0">
                <a:solidFill>
                  <a:srgbClr val="17253D"/>
                </a:solidFill>
              </a:rPr>
              <a:t>0 подтверждённых contest PASS · 0 утверждённых Buy.</a:t>
            </a:r>
            <a:endParaRPr lang="en-US" sz="2300" dirty="0"/>
          </a:p>
          <a:p>
            <a:pPr indent="0" marL="0">
              <a:spcAft>
                <a:spcPts val="1600"/>
              </a:spcAft>
              <a:buNone/>
            </a:pPr>
            <a:endParaRPr lang="en-US" sz="23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300" dirty="0">
                <a:solidFill>
                  <a:srgbClr val="17253D"/>
                </a:solidFill>
              </a:rPr>
              <a:t>Общий набор имеет статус UNDATED. Он не доказывает актуальную недооценку. Для допуска нужны цена/капитализация 02.11, оборот за 3 месяца, история торгов и сегменты выручки.</a:t>
            </a:r>
            <a:endParaRPr lang="en-US" sz="2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144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56677A"/>
                </a:solidFill>
              </a:rPr>
              <a:t>MIRROR X / ADBE / BUSINESS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253D"/>
                </a:solidFill>
              </a:rPr>
              <a:t>ADBE: бизнес и инвестиционная гипотеза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6364224"/>
            <a:ext cx="11247120" cy="0"/>
          </a:xfrm>
          <a:prstGeom prst="line">
            <a:avLst/>
          </a:prstGeom>
          <a:noFill/>
          <a:ln w="12700">
            <a:solidFill>
              <a:srgbClr val="D8E0E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6464808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5500C"/>
                </a:solidFill>
              </a:rPr>
              <a:t>PRELIMINARY · НЕ ГОТОВО К СДАЧЕ · Buy не подтверждён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229600" y="6464808"/>
            <a:ext cx="34747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6677A"/>
                </a:solidFill>
              </a:rPr>
              <a:t>MX-3777d2e495a9 / 4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02920" y="1417320"/>
            <a:ext cx="10972800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1900" dirty="0">
                <a:solidFill>
                  <a:srgbClr val="17253D"/>
                </a:solidFill>
              </a:rPr>
              <a:t>Подписки на инструменты для создания контента, документы и цифровой маркетинг.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dirty="0">
                <a:solidFill>
                  <a:srgbClr val="17253D"/>
                </a:solidFill>
              </a:rPr>
              <a:t>Преимущество: Привычные рабочие процессы, форматы документов и экосистема профессиональных пользователей.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dirty="0">
                <a:solidFill>
                  <a:srgbClr val="17253D"/>
                </a:solidFill>
              </a:rPr>
              <a:t>Гипотеза: Гипотеза для проверки: рынок может переоценивать потерю клиентов из-за генеративного ИИ. Проверить, превращается ли использование Firefly в дополнительный платный спрос.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dirty="0">
                <a:solidFill>
                  <a:srgbClr val="17253D"/>
                </a:solidFill>
              </a:rPr>
              <a:t>Макро: Ставки: рост WACC снижает приведённую стоимость будущих потоков. Инвестиции в ИИ: возможны новые подписки и дополнительные издержки одновременно. Замедление США: бюджеты маркетинга могут сокращаться.</a:t>
            </a:r>
            <a:endParaRPr lang="en-US" sz="1900" dirty="0"/>
          </a:p>
        </p:txBody>
      </p:sp>
      <p:sp>
        <p:nvSpPr>
          <p:cNvPr id="8" name="Text 6">
            <a:hlinkClick r:id="rId1" tooltip=""/>
          </p:cNvPr>
          <p:cNvSpPr/>
          <p:nvPr/>
        </p:nvSpPr>
        <p:spPr>
          <a:xfrm>
            <a:off x="502920" y="6080760"/>
            <a:ext cx="10972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u="sng" dirty="0">
                <a:solidFill>
                  <a:srgbClr val="56677A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https://www.adobe.com/cc-shared/assets/investor-relations/pdfs/adbe-2025-annual-report.pdf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144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56677A"/>
                </a:solidFill>
              </a:rPr>
              <a:t>MIRROR X / ADBE / VALUATION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253D"/>
                </a:solidFill>
              </a:rPr>
              <a:t>ADBE: оценка, риск и проверка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6364224"/>
            <a:ext cx="11247120" cy="0"/>
          </a:xfrm>
          <a:prstGeom prst="line">
            <a:avLst/>
          </a:prstGeom>
          <a:noFill/>
          <a:ln w="12700">
            <a:solidFill>
              <a:srgbClr val="D8E0E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6464808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5500C"/>
                </a:solidFill>
              </a:rPr>
              <a:t>PRELIMINARY · НЕ ГОТОВО К СДАЧЕ · Buy не подтверждён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229600" y="6464808"/>
            <a:ext cx="34747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6677A"/>
                </a:solidFill>
              </a:rPr>
              <a:t>MX-3777d2e495a9 / 5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02920" y="1371600"/>
            <a:ext cx="1097280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7253D"/>
                </a:solidFill>
              </a:rPr>
              <a:t>FY до 2025-11-28: выручка 23769 млн USD; operating income 8706 млн.</a:t>
            </a:r>
            <a:endParaRPr lang="en-US" sz="18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7253D"/>
                </a:solidFill>
              </a:rPr>
              <a:t>DCF $257.20; модельный 12m target $266.27. Нет текущей цены: upside N/A.</a:t>
            </a:r>
            <a:endParaRPr lang="en-US" sz="18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7253D"/>
                </a:solidFill>
              </a:rPr>
              <a:t>Допущения: рост 7%, маржа 35%, WACC 10%.</a:t>
            </a:r>
            <a:endParaRPr lang="en-US" sz="18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7253D"/>
                </a:solidFill>
              </a:rPr>
              <a:t>Риск: Замещение продукта AI-конкурентами — Средняя — мнение аналитика; Высокое; margin −3 п.п. в Bear.</a:t>
            </a:r>
            <a:endParaRPr lang="en-US" sz="18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7253D"/>
                </a:solidFill>
              </a:rPr>
              <a:t>Катализатор: Платная монетизация AI-инструментов — гипотеза, следующие 12 месяцев.</a:t>
            </a:r>
            <a:endParaRPr lang="en-US" sz="18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7253D"/>
                </a:solidFill>
              </a:rPr>
              <a:t>Точка входа / выход: не определены — нет датированной OHLCV.</a:t>
            </a:r>
            <a:endParaRPr lang="en-US" sz="18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7253D"/>
                </a:solidFill>
              </a:rPr>
              <a:t>Опровержение тезиса: Замедление роста подписок и снижение удержания.</a:t>
            </a:r>
            <a:endParaRPr lang="en-US" sz="1800" dirty="0"/>
          </a:p>
        </p:txBody>
      </p:sp>
      <p:sp>
        <p:nvSpPr>
          <p:cNvPr id="8" name="Text 6">
            <a:hlinkClick r:id="rId1" tooltip=""/>
          </p:cNvPr>
          <p:cNvSpPr/>
          <p:nvPr/>
        </p:nvSpPr>
        <p:spPr>
          <a:xfrm>
            <a:off x="502920" y="6080760"/>
            <a:ext cx="10972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u="sng" dirty="0">
                <a:solidFill>
                  <a:srgbClr val="56677A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https://www.adobe.com/cc-shared/assets/investor-relations/pdfs/adbe-2025-annual-report.pdf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144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56677A"/>
                </a:solidFill>
              </a:rPr>
              <a:t>MIRROR X / PYPL / BUSINESS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253D"/>
                </a:solidFill>
              </a:rPr>
              <a:t>PYPL: бизнес и инвестиционная гипотеза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6364224"/>
            <a:ext cx="11247120" cy="0"/>
          </a:xfrm>
          <a:prstGeom prst="line">
            <a:avLst/>
          </a:prstGeom>
          <a:noFill/>
          <a:ln w="12700">
            <a:solidFill>
              <a:srgbClr val="D8E0E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6464808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5500C"/>
                </a:solidFill>
              </a:rPr>
              <a:t>PRELIMINARY · НЕ ГОТОВО К СДАЧЕ · Buy не подтверждён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229600" y="6464808"/>
            <a:ext cx="34747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6677A"/>
                </a:solidFill>
              </a:rPr>
              <a:t>MX-3777d2e495a9 / 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02920" y="1417320"/>
            <a:ext cx="10972800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1900" dirty="0">
                <a:solidFill>
                  <a:srgbClr val="17253D"/>
                </a:solidFill>
              </a:rPr>
              <a:t>Платёжные сервисы для продавцов и покупателей: PayPal, Venmo и обработка платежей.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dirty="0">
                <a:solidFill>
                  <a:srgbClr val="17253D"/>
                </a:solidFill>
              </a:rPr>
              <a:t>Преимущество: Двусторонняя сеть пользователей и продавцов, данные о платежах и интеграция в checkout.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dirty="0">
                <a:solidFill>
                  <a:srgbClr val="17253D"/>
                </a:solidFill>
              </a:rPr>
              <a:t>Гипотеза: Гипотеза: улучшение качества роста и монетизация Venmo могут оказаться важнее слабого роста общей выручки. Нужны данные о branded checkout и transaction margin dollars.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dirty="0">
                <a:solidFill>
                  <a:srgbClr val="17253D"/>
                </a:solidFill>
              </a:rPr>
              <a:t>Макро: Потребительский спрос: замедление снижает объём платежей. Ставки: меняют процентный доход, стоимость фондирования и WACC. Торговые тарифы: могут влиять на трансграничные платежи.</a:t>
            </a:r>
            <a:endParaRPr lang="en-US" sz="1900" dirty="0"/>
          </a:p>
        </p:txBody>
      </p:sp>
      <p:sp>
        <p:nvSpPr>
          <p:cNvPr id="8" name="Text 6">
            <a:hlinkClick r:id="rId1" tooltip=""/>
          </p:cNvPr>
          <p:cNvSpPr/>
          <p:nvPr/>
        </p:nvSpPr>
        <p:spPr>
          <a:xfrm>
            <a:off x="502920" y="6080760"/>
            <a:ext cx="10972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u="sng" dirty="0">
                <a:solidFill>
                  <a:srgbClr val="56677A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https://www.sec.gov/Archives/edgar/data/1633917/000163391726000024/pypl-20251231.htm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144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56677A"/>
                </a:solidFill>
              </a:rPr>
              <a:t>MIRROR X / PYPL / VALUATION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253D"/>
                </a:solidFill>
              </a:rPr>
              <a:t>PYPL: оценка, риск и проверка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6364224"/>
            <a:ext cx="11247120" cy="0"/>
          </a:xfrm>
          <a:prstGeom prst="line">
            <a:avLst/>
          </a:prstGeom>
          <a:noFill/>
          <a:ln w="12700">
            <a:solidFill>
              <a:srgbClr val="D8E0E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6464808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5500C"/>
                </a:solidFill>
              </a:rPr>
              <a:t>PRELIMINARY · НЕ ГОТОВО К СДАЧЕ · Buy не подтверждён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229600" y="6464808"/>
            <a:ext cx="34747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6677A"/>
                </a:solidFill>
              </a:rPr>
              <a:t>MX-3777d2e495a9 / 7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02920" y="1371600"/>
            <a:ext cx="1097280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7253D"/>
                </a:solidFill>
              </a:rPr>
              <a:t>FY до 2025-12-31: выручка 33172 млн USD; operating income 6065 млн.</a:t>
            </a:r>
            <a:endParaRPr lang="en-US" sz="18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7253D"/>
                </a:solidFill>
              </a:rPr>
              <a:t>DCF $66.03; модельный 12m target $67.70. Нет текущей цены: upside N/A.</a:t>
            </a:r>
            <a:endParaRPr lang="en-US" sz="18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7253D"/>
                </a:solidFill>
              </a:rPr>
              <a:t>Допущения: рост 4%, маржа 18%, WACC 10,5%.</a:t>
            </a:r>
            <a:endParaRPr lang="en-US" sz="18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7253D"/>
                </a:solidFill>
              </a:rPr>
              <a:t>Риск: Конкуренция в checkout — Высокая — мнение аналитика; Рост выручки −4 п.п. в Bear.</a:t>
            </a:r>
            <a:endParaRPr lang="en-US" sz="18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7253D"/>
                </a:solidFill>
              </a:rPr>
              <a:t>Катализатор: Рост прибыли от платежей и монетизации Venmo — гипотеза, следующие 12 месяцев.</a:t>
            </a:r>
            <a:endParaRPr lang="en-US" sz="18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7253D"/>
                </a:solidFill>
              </a:rPr>
              <a:t>Точка входа / выход: не определены — нет датированной OHLCV.</a:t>
            </a:r>
            <a:endParaRPr lang="en-US" sz="18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7253D"/>
                </a:solidFill>
              </a:rPr>
              <a:t>Опровержение тезиса: Ухудшение branded checkout и платёжной маржи.</a:t>
            </a:r>
            <a:endParaRPr lang="en-US" sz="1800" dirty="0"/>
          </a:p>
        </p:txBody>
      </p:sp>
      <p:sp>
        <p:nvSpPr>
          <p:cNvPr id="8" name="Text 6">
            <a:hlinkClick r:id="rId1" tooltip=""/>
          </p:cNvPr>
          <p:cNvSpPr/>
          <p:nvPr/>
        </p:nvSpPr>
        <p:spPr>
          <a:xfrm>
            <a:off x="502920" y="6080760"/>
            <a:ext cx="10972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u="sng" dirty="0">
                <a:solidFill>
                  <a:srgbClr val="56677A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https://www.sec.gov/Archives/edgar/data/1633917/000163391726000024/pypl-20251231.htm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144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56677A"/>
                </a:solidFill>
              </a:rPr>
              <a:t>MIRROR X / NKE / BUSINESS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253D"/>
                </a:solidFill>
              </a:rPr>
              <a:t>NKE: бизнес и инвестиционная гипотеза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6364224"/>
            <a:ext cx="11247120" cy="0"/>
          </a:xfrm>
          <a:prstGeom prst="line">
            <a:avLst/>
          </a:prstGeom>
          <a:noFill/>
          <a:ln w="12700">
            <a:solidFill>
              <a:srgbClr val="D8E0E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6464808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5500C"/>
                </a:solidFill>
              </a:rPr>
              <a:t>PRELIMINARY · НЕ ГОТОВО К СДАЧЕ · Buy не подтверждён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229600" y="6464808"/>
            <a:ext cx="34747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6677A"/>
                </a:solidFill>
              </a:rPr>
              <a:t>MX-3777d2e495a9 / 8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02920" y="1417320"/>
            <a:ext cx="10972800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1900" dirty="0">
                <a:solidFill>
                  <a:srgbClr val="17253D"/>
                </a:solidFill>
              </a:rPr>
              <a:t>Разрабатывает и продаёт спортивную обувь, одежду и экипировку через опт и собственные каналы.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dirty="0">
                <a:solidFill>
                  <a:srgbClr val="17253D"/>
                </a:solidFill>
              </a:rPr>
              <a:t>Преимущество: Глобальный бренд, спортивные партнёрства, продуктовые разработки и сеть дистрибуции.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dirty="0">
                <a:solidFill>
                  <a:srgbClr val="17253D"/>
                </a:solidFill>
              </a:rPr>
              <a:t>Гипотеза: Гипотеза: восстановление продуктового предложения и отношений с оптом может поддержать маржу. Нужна проверка спроса без агрессивных скидок.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dirty="0">
                <a:solidFill>
                  <a:srgbClr val="17253D"/>
                </a:solidFill>
              </a:rPr>
              <a:t>Макро: Тарифы: напрямую меняют себестоимость импортной продукции. Слабый потребитель: снижает продажи по полной цене. USD и энергия: влияют на пересчёт выручки, производство и логистику.</a:t>
            </a:r>
            <a:endParaRPr lang="en-US" sz="1900" dirty="0"/>
          </a:p>
        </p:txBody>
      </p:sp>
      <p:sp>
        <p:nvSpPr>
          <p:cNvPr id="8" name="Text 6">
            <a:hlinkClick r:id="rId1" tooltip=""/>
          </p:cNvPr>
          <p:cNvSpPr/>
          <p:nvPr/>
        </p:nvSpPr>
        <p:spPr>
          <a:xfrm>
            <a:off x="502920" y="6080760"/>
            <a:ext cx="10972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u="sng" dirty="0">
                <a:solidFill>
                  <a:srgbClr val="56677A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https://investors.nike.com/sec-filings/all-sec-filings/content/0000320187-26-000088/nke-20260531.htm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144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56677A"/>
                </a:solidFill>
              </a:rPr>
              <a:t>MIRROR X / NKE / VALUATION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253D"/>
                </a:solidFill>
              </a:rPr>
              <a:t>NKE: оценка, риск и проверка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6364224"/>
            <a:ext cx="11247120" cy="0"/>
          </a:xfrm>
          <a:prstGeom prst="line">
            <a:avLst/>
          </a:prstGeom>
          <a:noFill/>
          <a:ln w="12700">
            <a:solidFill>
              <a:srgbClr val="D8E0E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6464808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5500C"/>
                </a:solidFill>
              </a:rPr>
              <a:t>PRELIMINARY · НЕ ГОТОВО К СДАЧЕ · Buy не подтверждён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229600" y="6464808"/>
            <a:ext cx="34747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6677A"/>
                </a:solidFill>
              </a:rPr>
              <a:t>MX-3777d2e495a9 / 9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02920" y="1371600"/>
            <a:ext cx="1097280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7253D"/>
                </a:solidFill>
              </a:rPr>
              <a:t>FY до 2026-05-31: выручка 46398 млн USD; operating income 3797 млн.</a:t>
            </a:r>
            <a:endParaRPr lang="en-US" sz="18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7253D"/>
                </a:solidFill>
              </a:rPr>
              <a:t>DCF $29.50; модельный 12m target $30.22. Нет текущей цены: upside N/A.</a:t>
            </a:r>
            <a:endParaRPr lang="en-US" sz="18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7253D"/>
                </a:solidFill>
              </a:rPr>
              <a:t>Допущения: рост 3,5%, маржа 10%, WACC 10%.</a:t>
            </a:r>
            <a:endParaRPr lang="en-US" sz="18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7253D"/>
                </a:solidFill>
              </a:rPr>
              <a:t>Риск: Потребитель и тарифы — Высокая — мнение аналитика; Высокое; margin −3 п.п. в Bear.</a:t>
            </a:r>
            <a:endParaRPr lang="en-US" sz="18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7253D"/>
                </a:solidFill>
              </a:rPr>
              <a:t>Катализатор: Сокращение скидок и улучшение товарного микса — гипотеза, следующие 12 месяцев.</a:t>
            </a:r>
            <a:endParaRPr lang="en-US" sz="18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7253D"/>
                </a:solidFill>
              </a:rPr>
              <a:t>Точка входа / выход: не определены — нет датированной OHLCV.</a:t>
            </a:r>
            <a:endParaRPr lang="en-US" sz="18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7253D"/>
                </a:solidFill>
              </a:rPr>
              <a:t>Опровержение тезиса: Рост скидок и отсутствие восстановления валовой маржи.</a:t>
            </a:r>
            <a:endParaRPr lang="en-US" sz="1800" dirty="0"/>
          </a:p>
        </p:txBody>
      </p:sp>
      <p:sp>
        <p:nvSpPr>
          <p:cNvPr id="8" name="Text 6">
            <a:hlinkClick r:id="rId1" tooltip=""/>
          </p:cNvPr>
          <p:cNvSpPr/>
          <p:nvPr/>
        </p:nvSpPr>
        <p:spPr>
          <a:xfrm>
            <a:off x="502920" y="6080760"/>
            <a:ext cx="10972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u="sng" dirty="0">
                <a:solidFill>
                  <a:srgbClr val="56677A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https://investors.nike.com/sec-filings/all-sec-filings/content/0000320187-26-000088/nke-20260531.htm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144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56677A"/>
                </a:solidFill>
              </a:rPr>
              <a:t>MIRROR X / 10 / REVERSE DCF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253D"/>
                </a:solidFill>
              </a:rPr>
              <a:t>Что должно быть правдой?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6364224"/>
            <a:ext cx="11247120" cy="0"/>
          </a:xfrm>
          <a:prstGeom prst="line">
            <a:avLst/>
          </a:prstGeom>
          <a:noFill/>
          <a:ln w="12700">
            <a:solidFill>
              <a:srgbClr val="D8E0E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6464808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5500C"/>
                </a:solidFill>
              </a:rPr>
              <a:t>PRELIMINARY · НЕ ГОТОВО К СДАЧЕ · Buy не подтверждён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229600" y="6464808"/>
            <a:ext cx="34747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6677A"/>
                </a:solidFill>
              </a:rPr>
              <a:t>MX-3777d2e495a9 / 10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02920" y="1463040"/>
            <a:ext cx="109728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2200" dirty="0">
                <a:solidFill>
                  <a:srgbClr val="17253D"/>
                </a:solidFill>
              </a:rPr>
              <a:t>Рост выручки определяется обратным расчётом из цены при фиксированных остальных допущениях.</a:t>
            </a:r>
            <a:endParaRPr lang="en-US" sz="2200" dirty="0"/>
          </a:p>
          <a:p>
            <a:pPr indent="0" marL="0">
              <a:spcAft>
                <a:spcPts val="1600"/>
              </a:spcAft>
              <a:buNone/>
            </a:pPr>
            <a:endParaRPr lang="en-US" sz="22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200" dirty="0">
                <a:solidFill>
                  <a:srgbClr val="17253D"/>
                </a:solidFill>
              </a:rPr>
              <a:t>Решатель: бисекция, диапазон −45%…+50%; вне диапазона — N/A. Сейчас нет датированной цены: ожидания рынка не заявляются.</a:t>
            </a:r>
            <a:endParaRPr lang="en-US" sz="2200" dirty="0"/>
          </a:p>
          <a:p>
            <a:pPr indent="0" marL="0">
              <a:spcAft>
                <a:spcPts val="1600"/>
              </a:spcAft>
              <a:buNone/>
            </a:pPr>
            <a:endParaRPr lang="en-US" sz="22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200" dirty="0">
                <a:solidFill>
                  <a:srgbClr val="17253D"/>
                </a:solidFill>
              </a:rPr>
              <a:t>WACC +1 п.п., рост −4 п.п. и маржа −3 п.п. доступны как стресс-сценарии. Высокая доля terminal value — отдельный риск модели.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144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56677A"/>
                </a:solidFill>
              </a:rPr>
              <a:t>MIRROR X / 11 / MACRO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253D"/>
                </a:solidFill>
              </a:rPr>
              <a:t>Макрофакторы проходят через бизнес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6364224"/>
            <a:ext cx="11247120" cy="0"/>
          </a:xfrm>
          <a:prstGeom prst="line">
            <a:avLst/>
          </a:prstGeom>
          <a:noFill/>
          <a:ln w="12700">
            <a:solidFill>
              <a:srgbClr val="D8E0E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6464808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5500C"/>
                </a:solidFill>
              </a:rPr>
              <a:t>PRELIMINARY · НЕ ГОТОВО К СДАЧЕ · Buy не подтверждён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229600" y="6464808"/>
            <a:ext cx="34747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6677A"/>
                </a:solidFill>
              </a:rPr>
              <a:t>MX-3777d2e495a9 / 11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02920" y="1417320"/>
            <a:ext cx="109728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17253D"/>
                </a:solidFill>
              </a:rPr>
              <a:t>Факт: 28 октября ФРС сохранила диапазон 3,75–4,00%. Это не risk-free yield для WACC.</a:t>
            </a:r>
            <a:endParaRPr lang="en-US" sz="2000" dirty="0"/>
          </a:p>
          <a:p>
            <a:pPr indent="0" marL="0">
              <a:spcAft>
                <a:spcPts val="1600"/>
              </a:spcAft>
              <a:buNone/>
            </a:pPr>
            <a:endParaRPr lang="en-US" sz="20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17253D"/>
                </a:solidFill>
              </a:rPr>
              <a:t>Adobe: бюджеты бизнеса, AI-монетизация и стоимость инференса.</a:t>
            </a:r>
            <a:endParaRPr lang="en-US" sz="20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17253D"/>
                </a:solidFill>
              </a:rPr>
              <a:t>PayPal: потребитель, трансграничные платежи и кредитный риск.</a:t>
            </a:r>
            <a:endParaRPr lang="en-US" sz="20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17253D"/>
                </a:solidFill>
              </a:rPr>
              <a:t>Nike: тарифы, покупательский спрос, USD и себестоимость.</a:t>
            </a:r>
            <a:endParaRPr lang="en-US" sz="2000" dirty="0"/>
          </a:p>
          <a:p>
            <a:pPr indent="0" marL="0">
              <a:spcAft>
                <a:spcPts val="1600"/>
              </a:spcAft>
              <a:buNone/>
            </a:pPr>
            <a:endParaRPr lang="en-US" sz="20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17253D"/>
                </a:solidFill>
              </a:rPr>
              <a:t>Выборы 3 ноября — неопределённость до дедлайна. Итоги не используются задним числом. Числа PCE/ВВП/нефти из PDF — ориентиры кейса.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02920" y="6080760"/>
            <a:ext cx="10972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6677A"/>
                </a:solidFill>
              </a:rPr>
              <a:t>https://www.federalreserve.gov/newsevents/pressreleases/monetary20261028a.htm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144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56677A"/>
                </a:solidFill>
              </a:rPr>
              <a:t>MIRROR X / 12 / PORTFOLIO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253D"/>
                </a:solidFill>
              </a:rPr>
              <a:t>$100 000: предварительное распределение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6364224"/>
            <a:ext cx="11247120" cy="0"/>
          </a:xfrm>
          <a:prstGeom prst="line">
            <a:avLst/>
          </a:prstGeom>
          <a:noFill/>
          <a:ln w="12700">
            <a:solidFill>
              <a:srgbClr val="D8E0E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6464808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5500C"/>
                </a:solidFill>
              </a:rPr>
              <a:t>PRELIMINARY · НЕ ГОТОВО К СДАЧЕ · Buy не подтверждён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229600" y="6464808"/>
            <a:ext cx="34747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6677A"/>
                </a:solidFill>
              </a:rPr>
              <a:t>MX-3777d2e495a9 / 12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02920" y="1417320"/>
            <a:ext cx="1097280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2100" dirty="0">
                <a:solidFill>
                  <a:srgbClr val="17253D"/>
                </a:solidFill>
              </a:rPr>
              <a:t>ADBE — 40% / $40,000.00</a:t>
            </a:r>
            <a:endParaRPr lang="en-US" sz="21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100" dirty="0">
                <a:solidFill>
                  <a:srgbClr val="17253D"/>
                </a:solidFill>
              </a:rPr>
              <a:t>40% — предварительная гипотеза: высокая операционная рентабельность; вес требует проверки цены и риска AI.</a:t>
            </a:r>
            <a:endParaRPr lang="en-US" sz="2100" dirty="0"/>
          </a:p>
          <a:p>
            <a:pPr indent="0" marL="0">
              <a:spcAft>
                <a:spcPts val="1600"/>
              </a:spcAft>
              <a:buNone/>
            </a:pPr>
            <a:endParaRPr lang="en-US" sz="21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100" dirty="0">
                <a:solidFill>
                  <a:srgbClr val="17253D"/>
                </a:solidFill>
              </a:rPr>
              <a:t>PYPL — 35% / $35,000.00</a:t>
            </a:r>
            <a:endParaRPr lang="en-US" sz="21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100" dirty="0">
                <a:solidFill>
                  <a:srgbClr val="17253D"/>
                </a:solidFill>
              </a:rPr>
              <a:t>35% — предварительно; отдельная проверка BNPL и исключение клиентских средств из cash.</a:t>
            </a:r>
            <a:endParaRPr lang="en-US" sz="2100" dirty="0"/>
          </a:p>
          <a:p>
            <a:pPr indent="0" marL="0">
              <a:spcAft>
                <a:spcPts val="1600"/>
              </a:spcAft>
              <a:buNone/>
            </a:pPr>
            <a:endParaRPr lang="en-US" sz="21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100" dirty="0">
                <a:solidFill>
                  <a:srgbClr val="17253D"/>
                </a:solidFill>
              </a:rPr>
              <a:t>NKE — 25% / $25,000.00</a:t>
            </a:r>
            <a:endParaRPr lang="en-US" sz="21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100" dirty="0">
                <a:solidFill>
                  <a:srgbClr val="17253D"/>
                </a:solidFill>
              </a:rPr>
              <a:t>25% — предварительно из-за риска восстановления, тарифа и потребителя.</a:t>
            </a:r>
            <a:endParaRPr lang="en-US" sz="2100" dirty="0"/>
          </a:p>
          <a:p>
            <a:pPr indent="0" marL="0">
              <a:spcAft>
                <a:spcPts val="1600"/>
              </a:spcAft>
              <a:buNone/>
            </a:pPr>
            <a:endParaRPr lang="en-US" sz="21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100" dirty="0">
                <a:solidFill>
                  <a:srgbClr val="17253D"/>
                </a:solidFill>
              </a:rPr>
              <a:t>Сумма: 100% / $100 000. Это учебная аллокация. Взвешенная ожидаемая доходность не рассчитана: нет цен и подтверждённых Buy.</a:t>
            </a:r>
            <a:endParaRPr lang="en-US" sz="2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144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56677A"/>
                </a:solidFill>
              </a:rPr>
              <a:t>MIRROR X / 13 / RISK &amp; RED TEAM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253D"/>
                </a:solidFill>
              </a:rPr>
              <a:t>Где портфель может ошибаться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6364224"/>
            <a:ext cx="11247120" cy="0"/>
          </a:xfrm>
          <a:prstGeom prst="line">
            <a:avLst/>
          </a:prstGeom>
          <a:noFill/>
          <a:ln w="12700">
            <a:solidFill>
              <a:srgbClr val="D8E0E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6464808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5500C"/>
                </a:solidFill>
              </a:rPr>
              <a:t>PRELIMINARY · НЕ ГОТОВО К СДАЧЕ · Buy не подтверждён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229600" y="6464808"/>
            <a:ext cx="34747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6677A"/>
                </a:solidFill>
              </a:rPr>
              <a:t>MX-3777d2e495a9 / 13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02920" y="1463040"/>
            <a:ext cx="109728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2200" dirty="0">
                <a:solidFill>
                  <a:srgbClr val="17253D"/>
                </a:solidFill>
              </a:rPr>
              <a:t>Общий фактор: слабый потребитель и рост ставок могут одновременно ухудшить все три идеи. Три акции — концентрированный портфель.</a:t>
            </a:r>
            <a:endParaRPr lang="en-US" sz="2200" dirty="0"/>
          </a:p>
          <a:p>
            <a:pPr indent="0" marL="0">
              <a:spcAft>
                <a:spcPts val="1600"/>
              </a:spcAft>
              <a:buNone/>
            </a:pPr>
            <a:endParaRPr lang="en-US" sz="22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200" dirty="0">
                <a:solidFill>
                  <a:srgbClr val="17253D"/>
                </a:solidFill>
              </a:rPr>
              <a:t>Adobe: AI может замещать платные инструменты. PayPal: рост processing без улучшения экономики checkout. Nike: длительное восстановление, скидки и тарифы.</a:t>
            </a:r>
            <a:endParaRPr lang="en-US" sz="2200" dirty="0"/>
          </a:p>
          <a:p>
            <a:pPr indent="0" marL="0">
              <a:spcAft>
                <a:spcPts val="1600"/>
              </a:spcAft>
              <a:buNone/>
            </a:pPr>
            <a:endParaRPr lang="en-US" sz="22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200" dirty="0">
                <a:solidFill>
                  <a:srgbClr val="17253D"/>
                </a:solidFill>
              </a:rPr>
              <a:t>Нет согласованной истории цен: корреляции и stop-loss не выдумываются. Вероятности рисков — мнение аналитика, а не статистическая модель.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144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56677A"/>
                </a:solidFill>
              </a:rPr>
              <a:t>MIRROR X / 14 / ИТОГ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253D"/>
                </a:solidFill>
              </a:rPr>
              <a:t>Сначала подтверждение. Затем Buy.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6364224"/>
            <a:ext cx="11247120" cy="0"/>
          </a:xfrm>
          <a:prstGeom prst="line">
            <a:avLst/>
          </a:prstGeom>
          <a:noFill/>
          <a:ln w="12700">
            <a:solidFill>
              <a:srgbClr val="D8E0E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6464808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5500C"/>
                </a:solidFill>
              </a:rPr>
              <a:t>PRELIMINARY · НЕ ГОТОВО К СДАЧЕ · Buy не подтверждён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229600" y="6464808"/>
            <a:ext cx="34747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6677A"/>
                </a:solidFill>
              </a:rPr>
              <a:t>MX-3777d2e495a9 / 14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02920" y="1463040"/>
            <a:ext cx="109728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2200" dirty="0">
                <a:solidFill>
                  <a:srgbClr val="17253D"/>
                </a:solidFill>
              </a:rPr>
              <a:t>Adobe / PayPal / Nike — три основных кандидата на глубокую проверку. Рекомендации Buy ещё не утверждены.</a:t>
            </a:r>
            <a:endParaRPr lang="en-US" sz="2200" dirty="0"/>
          </a:p>
          <a:p>
            <a:pPr indent="0" marL="0">
              <a:spcAft>
                <a:spcPts val="1600"/>
              </a:spcAft>
              <a:buNone/>
            </a:pPr>
            <a:endParaRPr lang="en-US" sz="22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200" dirty="0">
                <a:solidFill>
                  <a:srgbClr val="17253D"/>
                </a:solidFill>
              </a:rPr>
              <a:t>До сдачи: обновить квартальные факты → загрузить close 02.11 и OHLCV → проверить eligibility → подтвердить тезисы, вход/выход и targets → зафиксировать единый snapshot → перевыгрузить PPTX и XLSX.</a:t>
            </a:r>
            <a:endParaRPr lang="en-US" sz="2200" dirty="0"/>
          </a:p>
          <a:p>
            <a:pPr indent="0" marL="0">
              <a:spcAft>
                <a:spcPts val="1600"/>
              </a:spcAft>
              <a:buNone/>
            </a:pPr>
            <a:endParaRPr lang="en-US" sz="22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200" dirty="0">
                <a:solidFill>
                  <a:srgbClr val="17253D"/>
                </a:solidFill>
              </a:rPr>
              <a:t>Дедлайн: 3 ноября 2026, 23:59 UTC+5. Способ отправки сообщают организаторы. Доходность и победа не гарантируются.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Freedom Investment Challenge 2026 — MIRROR X</dc:title>
  <dc:subject>PRELIMINARY — no reviewed Buy / no 02 Nov closing prices</dc:subject>
  <dc:creator>MIRROR X</dc:creator>
  <cp:lastModifiedBy>MIRROR X</cp:lastModifiedBy>
  <cp:revision>1</cp:revision>
  <dcterms:created xsi:type="dcterms:W3CDTF">2026-10-29T08:21:50Z</dcterms:created>
  <dcterms:modified xsi:type="dcterms:W3CDTF">2026-10-29T08:21:50Z</dcterms:modified>
</cp:coreProperties>
</file>