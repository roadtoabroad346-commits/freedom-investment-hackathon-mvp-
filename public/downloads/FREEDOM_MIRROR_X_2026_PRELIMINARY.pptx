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adobe.com/cc-shared/assets/investor-relations/pdfs/adbe-2025-annual-report.pdf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adobe.com/cc-shared/assets/investor-relations/pdfs/adbe-2025-annual-report.pdf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ec.gov/Archives/edgar/data/1633917/000163391726000024/pypl-20251231.ht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ec.gov/Archives/edgar/data/1633917/000163391726000024/pypl-20251231.ht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investors.nike.com/sec-filings/all-sec-filings/content/0000320187-26-000088/nke-20260531.ht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investors.nike.com/sec-filings/all-sec-filings/content/0000320187-26-000088/nke-20260531.ht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01 / РЕКОМЕНДАЦИИ — ОЖИДАЮТ ПРОВЕРКИ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Сводка трёх основных исследований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1</a:t>
            </a:r>
            <a:endParaRPr lang="en-US" sz="8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2011680"/>
        </p:xfrm>
        <a:graphic>
          <a:graphicData uri="http://schemas.openxmlformats.org/drawingml/2006/table">
            <a:tbl>
              <a:tblPr/>
              <a:tblGrid>
                <a:gridCol w="1965960"/>
                <a:gridCol w="731520"/>
                <a:gridCol w="2103120"/>
                <a:gridCol w="1280160"/>
                <a:gridCol w="1463040"/>
                <a:gridCol w="960120"/>
                <a:gridCol w="9144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Компания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Тикер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Рекомендация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02.11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12m target*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Upside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Вес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Adobe Inc.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ADBE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NOT-RATED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 не подтверждён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$266.27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PayPal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PYPL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NOT-RATED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 не подтверждён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$67.70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Nike, Inc.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NKE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NOT-RATED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 не подтверждён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$30.22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420624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$100 000 учебного капитала · 12 месяцев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* Target — условный результат модели на базе годового отчёта.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Цены закрытия 2 ноября ещё недоступны. Это рабочий пакет, а не готовые Buy-рекомендации.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02 / ПОДХОД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От широкого поиска к проверяемому аргументу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503 компании в импортированном наборе → реальные фильтры → отраслевой рейтинг → проверка фактов → DCF → контраргументы.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Рейтинг: 60% P/E-процентиль + 40% EBITDA / капитализация. Минимум 5 отраслевых аналогов. Пропуски не получают средний балл.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Adobe, PayPal и Nike — выбранный фокус исследований. Алгоритм пока не доказал, что это лучшие три Buy.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03 / ВОРОНКА И КАЧЕСТВО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Готовность измеряется фактами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300" dirty="0">
                <a:solidFill>
                  <a:srgbClr val="17253D"/>
                </a:solidFill>
              </a:rPr>
              <a:t>503 импортированные компании · 3 годовые модели · 0 датированных котировок.</a:t>
            </a:r>
            <a:endParaRPr lang="en-US" sz="2300" dirty="0"/>
          </a:p>
          <a:p>
            <a:pPr indent="0" marL="0">
              <a:spcAft>
                <a:spcPts val="1600"/>
              </a:spcAft>
              <a:buNone/>
            </a:pPr>
            <a:endParaRPr lang="en-US" sz="23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300" dirty="0">
                <a:solidFill>
                  <a:srgbClr val="17253D"/>
                </a:solidFill>
              </a:rPr>
              <a:t>0 подтверждённых contest PASS · 0 утверждённых Buy.</a:t>
            </a:r>
            <a:endParaRPr lang="en-US" sz="2300" dirty="0"/>
          </a:p>
          <a:p>
            <a:pPr indent="0" marL="0">
              <a:spcAft>
                <a:spcPts val="1600"/>
              </a:spcAft>
              <a:buNone/>
            </a:pPr>
            <a:endParaRPr lang="en-US" sz="23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300" dirty="0">
                <a:solidFill>
                  <a:srgbClr val="17253D"/>
                </a:solidFill>
              </a:rPr>
              <a:t>Общий набор имеет статус UNDATED. Он не доказывает актуальную недооценку. Для допуска нужны цена/капитализация 02.11, оборот за 3 месяца, история торгов и сегменты выручки.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ADBE / BUSINESS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ADBE: бизнес и инвестиционная гипотеза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4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1097280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Подписки на инструменты для создания контента, документы и цифровой маркетинг.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Преимущество: Привычные рабочие процессы, форматы документов и экосистема профессиональных пользователей.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Гипотеза: Гипотеза для проверки: рынок может переоценивать потерю клиентов из-за генеративного ИИ. Проверить, превращается ли использование Firefly в дополнительный платный спрос.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Макро: Ставки: рост WACC снижает приведённую стоимость будущих потоков. Инвестиции в ИИ: возможны новые подписки и дополнительные издержки одновременно. Замедление США: бюджеты маркетинга могут сокращаться.</a:t>
            </a:r>
            <a:endParaRPr lang="en-US" sz="19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502920" y="6080760"/>
            <a:ext cx="10972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u="sng" dirty="0">
                <a:solidFill>
                  <a:srgbClr val="56677A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https://www.adobe.com/cc-shared/assets/investor-relations/pdfs/adbe-2025-annual-report.pdf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ADBE / VALUATION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ADBE: оценка, риск и проверка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109728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FY до 2025-11-28: выручка 23769 млн USD; operating income 8706 млн.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DCF $257.20; модельный 12m target $266.27. Нет текущей цены: upside N/A.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Допущения: рост 7%, маржа 35%, WACC 10%.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Риск: Замещение продукта AI-конкурентами — Средняя — мнение аналитика; Высокое; margin −3 п.п. в Bear.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Катализатор: Платная монетизация AI-инструментов — гипотеза, следующие 12 месяцев.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Точка входа / выход: не определены — нет датированной OHLCV.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Опровержение тезиса: Замедление роста подписок и снижение удержания.</a:t>
            </a:r>
            <a:endParaRPr lang="en-US" sz="18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502920" y="6080760"/>
            <a:ext cx="10972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u="sng" dirty="0">
                <a:solidFill>
                  <a:srgbClr val="56677A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https://www.adobe.com/cc-shared/assets/investor-relations/pdfs/adbe-2025-annual-report.pdf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PYPL / BUSINESS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PYPL: бизнес и инвестиционная гипотеза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1097280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Платёжные сервисы для продавцов и покупателей: PayPal, Venmo и обработка платежей.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Преимущество: Двусторонняя сеть пользователей и продавцов, данные о платежах и интеграция в checkout.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Гипотеза: Гипотеза: улучшение качества роста и монетизация Venmo могут оказаться важнее слабого роста общей выручки. Нужны данные о branded checkout и transaction margin dollars.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Макро: Потребительский спрос: замедление снижает объём платежей. Ставки: меняют процентный доход, стоимость фондирования и WACC. Торговые тарифы: могут влиять на трансграничные платежи.</a:t>
            </a:r>
            <a:endParaRPr lang="en-US" sz="19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502920" y="6080760"/>
            <a:ext cx="10972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u="sng" dirty="0">
                <a:solidFill>
                  <a:srgbClr val="56677A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https://www.sec.gov/Archives/edgar/data/1633917/000163391726000024/pypl-20251231.htm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PYPL / VALUATION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PYPL: оценка, риск и проверка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109728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FY до 2025-12-31: выручка 33172 млн USD; operating income 6065 млн.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DCF $66.03; модельный 12m target $67.70. Нет текущей цены: upside N/A.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Допущения: рост 4%, маржа 18%, WACC 10,5%.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Риск: Конкуренция в checkout — Высокая — мнение аналитика; Рост выручки −4 п.п. в Bear.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Катализатор: Рост прибыли от платежей и монетизации Venmo — гипотеза, следующие 12 месяцев.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Точка входа / выход: не определены — нет датированной OHLCV.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Опровержение тезиса: Ухудшение branded checkout и платёжной маржи.</a:t>
            </a:r>
            <a:endParaRPr lang="en-US" sz="18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502920" y="6080760"/>
            <a:ext cx="10972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u="sng" dirty="0">
                <a:solidFill>
                  <a:srgbClr val="56677A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https://www.sec.gov/Archives/edgar/data/1633917/000163391726000024/pypl-20251231.htm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NKE / BUSINESS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NKE: бизнес и инвестиционная гипотеза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8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1097280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Разрабатывает и продаёт спортивную обувь, одежду и экипировку через опт и собственные каналы.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Преимущество: Глобальный бренд, спортивные партнёрства, продуктовые разработки и сеть дистрибуции.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Гипотеза: Гипотеза: восстановление продуктового предложения и отношений с оптом может поддержать маржу. Нужна проверка спроса без агрессивных скидок.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Макро: Тарифы: напрямую меняют себестоимость импортной продукции. Слабый потребитель: снижает продажи по полной цене. USD и энергия: влияют на пересчёт выручки, производство и логистику.</a:t>
            </a:r>
            <a:endParaRPr lang="en-US" sz="19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502920" y="6080760"/>
            <a:ext cx="10972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u="sng" dirty="0">
                <a:solidFill>
                  <a:srgbClr val="56677A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https://investors.nike.com/sec-filings/all-sec-filings/content/0000320187-26-000088/nke-20260531.htm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NKE / VALUATION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NKE: оценка, риск и проверка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9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109728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FY до 2026-05-31: выручка 46398 млн USD; operating income 3797 млн.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DCF $29.50; модельный 12m target $30.22. Нет текущей цены: upside N/A.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Допущения: рост 3,5%, маржа 10%, WACC 10%.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Риск: Потребитель и тарифы — Высокая — мнение аналитика; Высокое; margin −3 п.п. в Bear.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Катализатор: Сокращение скидок и улучшение товарного микса — гипотеза, следующие 12 месяцев.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Точка входа / выход: не определены — нет датированной OHLCV.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Опровержение тезиса: Рост скидок и отсутствие восстановления валовой маржи.</a:t>
            </a:r>
            <a:endParaRPr lang="en-US" sz="18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502920" y="6080760"/>
            <a:ext cx="10972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u="sng" dirty="0">
                <a:solidFill>
                  <a:srgbClr val="56677A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https://investors.nike.com/sec-filings/all-sec-filings/content/0000320187-26-000088/nke-20260531.htm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10 / REVERSE DCF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Что должно быть правдой?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10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Рост выручки определяется обратным расчётом из цены при фиксированных остальных допущениях.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Решатель: бисекция, диапазон −45%…+50%; вне диапазона — N/A. Сейчас нет датированной цены: ожидания рынка не заявляются.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WACC +1 п.п., рост −4 п.п. и маржа −3 п.п. доступны как стресс-сценарии. Высокая доля terminal value — отдельный риск модели.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11 / MACRO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Макрофакторы проходят через бизнес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11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17253D"/>
                </a:solidFill>
              </a:rPr>
              <a:t>Факт: 28 октября ФРС сохранила диапазон 3,75–4,00%. Это не risk-free yield для WACC.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17253D"/>
                </a:solidFill>
              </a:rPr>
              <a:t>Adobe: бюджеты бизнеса, AI-монетизация и стоимость инференса.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17253D"/>
                </a:solidFill>
              </a:rPr>
              <a:t>PayPal: потребитель, трансграничные платежи и кредитный риск.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17253D"/>
                </a:solidFill>
              </a:rPr>
              <a:t>Nike: тарифы, покупательский спрос, USD и себестоимость.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17253D"/>
                </a:solidFill>
              </a:rPr>
              <a:t>Выборы 3 ноября — неопределённость до дедлайна. Итоги не используются задним числом. Числа PCE/ВВП/нефти из PDF — ориентиры кейса.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02920" y="6080760"/>
            <a:ext cx="10972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https://www.federalreserve.gov/newsevents/pressreleases/monetary20261028a.htm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12 / PORTFOLIO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$100 000: предварительное распределение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12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109728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100" dirty="0">
                <a:solidFill>
                  <a:srgbClr val="17253D"/>
                </a:solidFill>
              </a:rPr>
              <a:t>ADBE — 40% / $40,000.00</a:t>
            </a:r>
            <a:endParaRPr lang="en-US" sz="21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100" dirty="0">
                <a:solidFill>
                  <a:srgbClr val="17253D"/>
                </a:solidFill>
              </a:rPr>
              <a:t>40% — предварительная гипотеза: высокая операционная рентабельность; вес требует проверки цены и риска AI.</a:t>
            </a:r>
            <a:endParaRPr lang="en-US" sz="2100" dirty="0"/>
          </a:p>
          <a:p>
            <a:pPr indent="0" marL="0">
              <a:spcAft>
                <a:spcPts val="1600"/>
              </a:spcAft>
              <a:buNone/>
            </a:pPr>
            <a:endParaRPr lang="en-US" sz="21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100" dirty="0">
                <a:solidFill>
                  <a:srgbClr val="17253D"/>
                </a:solidFill>
              </a:rPr>
              <a:t>PYPL — 35% / $35,000.00</a:t>
            </a:r>
            <a:endParaRPr lang="en-US" sz="21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100" dirty="0">
                <a:solidFill>
                  <a:srgbClr val="17253D"/>
                </a:solidFill>
              </a:rPr>
              <a:t>35% — предварительно; отдельная проверка BNPL и исключение клиентских средств из cash.</a:t>
            </a:r>
            <a:endParaRPr lang="en-US" sz="2100" dirty="0"/>
          </a:p>
          <a:p>
            <a:pPr indent="0" marL="0">
              <a:spcAft>
                <a:spcPts val="1600"/>
              </a:spcAft>
              <a:buNone/>
            </a:pPr>
            <a:endParaRPr lang="en-US" sz="21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100" dirty="0">
                <a:solidFill>
                  <a:srgbClr val="17253D"/>
                </a:solidFill>
              </a:rPr>
              <a:t>NKE — 25% / $25,000.00</a:t>
            </a:r>
            <a:endParaRPr lang="en-US" sz="21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100" dirty="0">
                <a:solidFill>
                  <a:srgbClr val="17253D"/>
                </a:solidFill>
              </a:rPr>
              <a:t>25% — предварительно из-за риска восстановления, тарифа и потребителя.</a:t>
            </a:r>
            <a:endParaRPr lang="en-US" sz="2100" dirty="0"/>
          </a:p>
          <a:p>
            <a:pPr indent="0" marL="0">
              <a:spcAft>
                <a:spcPts val="1600"/>
              </a:spcAft>
              <a:buNone/>
            </a:pPr>
            <a:endParaRPr lang="en-US" sz="21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100" dirty="0">
                <a:solidFill>
                  <a:srgbClr val="17253D"/>
                </a:solidFill>
              </a:rPr>
              <a:t>Сумма: 100% / $100 000. Это учебная аллокация. Взвешенная ожидаемая доходность не рассчитана: нет цен и подтверждённых Buy.</a:t>
            </a:r>
            <a:endParaRPr lang="en-US" sz="2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13 / RISK &amp; RED TEAM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Где портфель может ошибаться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13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Общий фактор: слабый потребитель и рост ставок могут одновременно ухудшить все три идеи. Три акции — концентрированный портфель.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Adobe: AI может замещать платные инструменты. PayPal: рост processing без улучшения экономики checkout. Nike: длительное восстановление, скидки и тарифы.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Нет согласованной истории цен: корреляции и stop-loss не выдумываются. Вероятности рисков — мнение аналитика, а не статистическая модель.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14 / ИТОГ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Сначала подтверждение. Затем Buy.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14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Adobe / PayPal / Nike — три основных кандидата на глубокую проверку. Рекомендации Buy ещё не утверждены.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До сдачи: обновить квартальные факты → загрузить close 02.11 и OHLCV → проверить eligibility → подтвердить тезисы, вход/выход и targets → зафиксировать единый snapshot → перевыгрузить PPTX и XLSX.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Дедлайн: 3 ноября 2026, 23:59 UTC+5. Способ отправки сообщают организаторы. Доходность и победа не гарантируются.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Freedom Investment Challenge 2026 — MIRROR X</dc:title>
  <dc:subject>PRELIMINARY — no reviewed Buy / no 02 Nov closing prices</dc:subject>
  <dc:creator>MIRROR X</dc:creator>
  <cp:lastModifiedBy>MIRROR X</cp:lastModifiedBy>
  <cp:revision>1</cp:revision>
  <dcterms:created xsi:type="dcterms:W3CDTF">2026-10-29T07:40:13Z</dcterms:created>
  <dcterms:modified xsi:type="dcterms:W3CDTF">2026-10-29T07:40:13Z</dcterms:modified>
</cp:coreProperties>
</file>